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6366F1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-731520"/>
            <a:ext cx="2286000" cy="2286000"/>
          </a:xfrm>
          <a:prstGeom prst="ellipse">
            <a:avLst/>
          </a:prstGeom>
          <a:solidFill>
            <a:srgbClr val="F97316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PaperHub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22860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기반 학술 논문 탐색 및 학습 플랫폼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성균관대학교 바이오헬스케어학과</a:t>
            </a:r>
            <a:pPr indent="0" marL="0">
              <a:buNone/>
            </a:pPr>
            <a:r>
              <a:rPr lang="en-US" sz="1400" dirty="0">
                <a:solidFill>
                  <a:srgbClr val="303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indent="0" marL="0">
              <a:buNone/>
            </a:pPr>
            <a:r>
              <a:rPr lang="en-US" sz="14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클라우드 프로젝트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846320"/>
            <a:ext cx="82296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Amazon Bedrock  |  Real-time Multi-source Search  |  AI Learning Assistant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18288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384048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방대한 학술 논문 탐색의 어려움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논문 이해 장벽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분산된 논문 데이터베이스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097280"/>
            <a:ext cx="3840480" cy="18288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46320" y="1097280"/>
            <a:ext cx="384048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1280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69164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기반 논문 탐색, 요약, 학습 지원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멀티소스 통합 검색 플랫폼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학습 기능 내장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solidFill>
            <a:srgbClr val="1C2333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383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가치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3794760"/>
            <a:ext cx="365760" cy="36576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3749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멀티소스 검색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PubMed + arXiv + OpenAlex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66160" y="379476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3749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&amp; 요약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908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 Nova Pro 활용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379476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7490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학습 지원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8가지 학습 모드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기능 한눈에 보기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1965960" cy="34747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196596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논문 검색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914400" cy="27432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56032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PubMed, arXiv, OpenAlex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소스 통합 검색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카테고리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06040" y="1097280"/>
            <a:ext cx="1965960" cy="34747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097280"/>
            <a:ext cx="196596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9731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74320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논문 분석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743200" y="2377440"/>
            <a:ext cx="914400" cy="2743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256032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한줄/페이지 요약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추출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난이도 평가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1965960" cy="34747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97280"/>
            <a:ext cx="1965960" cy="54864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DD4B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89204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영어 학습 지원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892040" y="2377440"/>
            <a:ext cx="914400" cy="27432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56032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어휘, 문장분석, 퀴즈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작문 첨삭, 발표 준비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8가지 모드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03720" y="1097280"/>
            <a:ext cx="1965960" cy="347472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03720" y="1097280"/>
            <a:ext cx="1965960" cy="54864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7040880" y="1371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472B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7040880" y="1920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개인화 추천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040880" y="2377440"/>
            <a:ext cx="914400" cy="27432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0" y="2560320"/>
            <a:ext cx="1645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북마크 기반 분석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추천 엔진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맞춤 추천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실시간 멀티소스 검색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2606040" cy="2286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2286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PubMed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36M+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920240" y="16642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의학/생명과학 논문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NLM eutils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XML 파싱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51560"/>
            <a:ext cx="2606040" cy="2286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051560"/>
            <a:ext cx="54864" cy="2286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2044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2.4M+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754880" y="16642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컴퓨터과학/물리학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 feed 파싱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프리프린트 논문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051560"/>
            <a:ext cx="2606040" cy="2286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051560"/>
            <a:ext cx="54864" cy="2286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200M+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589520" y="16642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55080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종합 학술 DB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역색인 초록 복원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1C2333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" y="3886200"/>
            <a:ext cx="274320" cy="27432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카테고리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" y="40690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6시간 자동 수집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697480" y="3886200"/>
            <a:ext cx="274320" cy="27432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27" name="Text 25"/>
          <p:cNvSpPr/>
          <p:nvPr/>
        </p:nvSpPr>
        <p:spPr>
          <a:xfrm>
            <a:off x="3108960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트렌딩 검색어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108960" y="40690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LLM, CRISPR, AlphaFold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54880" y="3886200"/>
            <a:ext cx="274320" cy="27432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66360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 정렬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66360" y="40690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관련도/인용수/발행일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2280" y="3886200"/>
            <a:ext cx="274320" cy="27432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33" name="Text 31"/>
          <p:cNvSpPr/>
          <p:nvPr/>
        </p:nvSpPr>
        <p:spPr>
          <a:xfrm>
            <a:off x="7223760" y="3840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제거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23760" y="40690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제목 기반 필터링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논문 분석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200400" cy="320040"/>
          </a:xfrm>
          <a:prstGeom prst="rect">
            <a:avLst/>
          </a:prstGeom>
          <a:solidFill>
            <a:srgbClr val="F97316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914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Bedrock Nova Pro v1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2606040" cy="13716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63040"/>
            <a:ext cx="260604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한줄 요약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65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내용을 한 문장으로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한국어/영어 지원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463040"/>
            <a:ext cx="2606040" cy="13716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463040"/>
            <a:ext cx="260604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1페이지 구조화 요약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74720" y="1965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배경, 방법론, 결과, 결론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체계적 분석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463040"/>
            <a:ext cx="2606040" cy="13716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463040"/>
            <a:ext cx="2606040" cy="4572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600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추출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19659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키워드 5개 자동 추출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분야 파악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63240"/>
            <a:ext cx="2606040" cy="13716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063240"/>
            <a:ext cx="260604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난이도 평가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초급 / 중급 / 고급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수준 판단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91840" y="3063240"/>
            <a:ext cx="2606040" cy="13716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91840" y="3063240"/>
            <a:ext cx="260604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동향 분석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연도별 트렌드 시각화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 데이터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3063240"/>
            <a:ext cx="2606040" cy="13716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3063240"/>
            <a:ext cx="2606040" cy="4572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분석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0936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논문 대조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방법론/결과/강약점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튜터 &amp; 학습 도구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7764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16916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48640" cy="548640"/>
          </a:xfrm>
          <a:prstGeom prst="ellipse">
            <a:avLst/>
          </a:prstGeom>
          <a:solidFill>
            <a:srgbClr val="F97316">
              <a:alpha val="2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튜터 챗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기반 실시간 Q&amp;A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멀티턴 대화 지원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히스토리 인식 응답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005840"/>
            <a:ext cx="54864" cy="16916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4983480" y="1280160"/>
            <a:ext cx="548640" cy="548640"/>
          </a:xfrm>
          <a:prstGeom prst="ellipse">
            <a:avLst/>
          </a:prstGeom>
          <a:solidFill>
            <a:srgbClr val="6366F1">
              <a:alpha val="2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7150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질문 생성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715000" y="1554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비판적 사고 질문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비평/확장/방법론/응용/한계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힌트 제공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7764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1691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200400"/>
            <a:ext cx="548640" cy="548640"/>
          </a:xfrm>
          <a:prstGeom prst="ellipse">
            <a:avLst/>
          </a:prstGeom>
          <a:solidFill>
            <a:srgbClr val="2DD4BF">
              <a:alpha val="2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 자동 생성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3040" y="34747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5장 발표 자료 자동 생성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제목/배경/방법/결과/결론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발표자 노트 포함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926080"/>
            <a:ext cx="397764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926080"/>
            <a:ext cx="54864" cy="169164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4" name="Shape 22"/>
          <p:cNvSpPr/>
          <p:nvPr/>
        </p:nvSpPr>
        <p:spPr>
          <a:xfrm>
            <a:off x="4983480" y="3200400"/>
            <a:ext cx="548640" cy="548640"/>
          </a:xfrm>
          <a:prstGeom prst="ellipse">
            <a:avLst/>
          </a:prstGeom>
          <a:solidFill>
            <a:srgbClr val="F472B6">
              <a:alpha val="2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71500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비교 분석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715000" y="34747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두 논문 비교 분석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방법론, 결과 비교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강약점 분석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영어 학습 모드 (8가지)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143000"/>
            <a:ext cx="365760" cy="36576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143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어휘 추출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6459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10개 단어, 한국어 의미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예문, 발음 제공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0" y="114300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00400" y="1143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복합 문장 분석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43200" y="16459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주어/동사/목적어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직역/의역 비교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143000"/>
            <a:ext cx="365760" cy="36576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6" name="Text 14"/>
          <p:cNvSpPr/>
          <p:nvPr/>
        </p:nvSpPr>
        <p:spPr>
          <a:xfrm>
            <a:off x="489204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49240" y="1143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작문 첨삭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16459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문법 교정, 학술 표현 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100점 만점 채점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100584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040880" y="1143000"/>
            <a:ext cx="365760" cy="36576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Text 19"/>
          <p:cNvSpPr/>
          <p:nvPr/>
        </p:nvSpPr>
        <p:spPr>
          <a:xfrm>
            <a:off x="7040880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11430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퀴즈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40880" y="16459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 채우기, 추론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독해 5문제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92608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" y="3063240"/>
            <a:ext cx="365760" cy="36576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51560" y="3063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표현 패턴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4360" y="3566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표현, 섹션별 분류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Intro/Methods/Results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606040" y="292608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0" y="3063240"/>
            <a:ext cx="365760" cy="365760"/>
          </a:xfrm>
          <a:prstGeom prst="ellipse">
            <a:avLst/>
          </a:prstGeom>
          <a:solidFill>
            <a:srgbClr val="FCD34D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0400" y="3063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TTS 발음 연습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743200" y="3566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음성 변환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발음 확인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54880" y="292608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892040" y="3063240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36" name="Text 34"/>
          <p:cNvSpPr/>
          <p:nvPr/>
        </p:nvSpPr>
        <p:spPr>
          <a:xfrm>
            <a:off x="489204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49240" y="3063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준비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92040" y="3566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2분 스크립트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질문, 유용 표현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903720" y="2926080"/>
            <a:ext cx="1965960" cy="1691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040880" y="3063240"/>
            <a:ext cx="365760" cy="365760"/>
          </a:xfrm>
          <a:prstGeom prst="ellipse">
            <a:avLst/>
          </a:prstGeom>
          <a:solidFill>
            <a:srgbClr val="8B949E"/>
          </a:solidFill>
          <a:ln/>
        </p:spPr>
      </p:sp>
      <p:sp>
        <p:nvSpPr>
          <p:cNvPr id="41" name="Text 39"/>
          <p:cNvSpPr/>
          <p:nvPr/>
        </p:nvSpPr>
        <p:spPr>
          <a:xfrm>
            <a:off x="7040880" y="3063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498080" y="306324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통계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040880" y="35661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진행도 추적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Markdown/CSV 내보내기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개인화 &amp; AI 추천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18288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34440"/>
            <a:ext cx="457200" cy="45720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234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북마크 수집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관심 논문 즐겨찾기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10개 분석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26080" y="1280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03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2344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60520" y="1234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관심 분야 분석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16052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 Nova Pro로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파악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15000" y="1280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03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309360" y="1234440"/>
            <a:ext cx="457200" cy="457200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9440" y="1234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 논문 탐색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49440" y="15544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카테고리별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후보군 구성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1C2333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108960"/>
            <a:ext cx="822960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246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추천 결과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" y="3611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맞춤 추천 논문 제공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추천 논문별 AI 생성 추천 이유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북마크 논문과의 연관성 분석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카테고리 기반 후보 논문 필터링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AWS 아키텍처 구성도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914400" cy="6400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188720" y="1783080"/>
            <a:ext cx="45720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1097280"/>
            <a:ext cx="1188720" cy="548640"/>
          </a:xfrm>
          <a:prstGeom prst="rect">
            <a:avLst/>
          </a:prstGeom>
          <a:solidFill>
            <a:srgbClr val="7B3F99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45920" y="10972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40280" y="1645920"/>
            <a:ext cx="0" cy="457200"/>
          </a:xfrm>
          <a:prstGeom prst="line">
            <a:avLst/>
          </a:prstGeom>
          <a:noFill/>
          <a:ln w="12700">
            <a:solidFill>
              <a:srgbClr val="8B949E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645920" y="2103120"/>
            <a:ext cx="1188720" cy="548640"/>
          </a:xfrm>
          <a:prstGeom prst="rect">
            <a:avLst/>
          </a:prstGeom>
          <a:solidFill>
            <a:srgbClr val="3F8624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645920" y="21031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88720" y="1783080"/>
            <a:ext cx="45720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08960" y="1463040"/>
            <a:ext cx="1188720" cy="640080"/>
          </a:xfrm>
          <a:prstGeom prst="rect">
            <a:avLst/>
          </a:prstGeom>
          <a:solidFill>
            <a:srgbClr val="A166FF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08960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834640" y="1783080"/>
            <a:ext cx="27432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1783080"/>
            <a:ext cx="27432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731520"/>
            <a:ext cx="1554480" cy="548640"/>
          </a:xfrm>
          <a:prstGeom prst="rect">
            <a:avLst/>
          </a:prstGeom>
          <a:solidFill>
            <a:srgbClr val="F97316">
              <a:alpha val="25000"/>
            </a:srgbClr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0" y="731520"/>
            <a:ext cx="45720" cy="5486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9" name="Text 17"/>
          <p:cNvSpPr/>
          <p:nvPr/>
        </p:nvSpPr>
        <p:spPr>
          <a:xfrm>
            <a:off x="4709160" y="731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paperhub-serve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서빙 &amp; 검색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00200"/>
            <a:ext cx="1554480" cy="548640"/>
          </a:xfrm>
          <a:prstGeom prst="rect">
            <a:avLst/>
          </a:prstGeom>
          <a:solidFill>
            <a:srgbClr val="F97316">
              <a:alpha val="25000"/>
            </a:srgbClr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1600200"/>
            <a:ext cx="45720" cy="5486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paperhub-summarize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0" y="2468880"/>
            <a:ext cx="1554480" cy="548640"/>
          </a:xfrm>
          <a:prstGeom prst="rect">
            <a:avLst/>
          </a:prstGeom>
          <a:solidFill>
            <a:srgbClr val="F97316">
              <a:alpha val="25000"/>
            </a:srgbClr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2468880"/>
            <a:ext cx="45720" cy="54864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2468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paperhub-recommend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추천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0" y="3337560"/>
            <a:ext cx="1554480" cy="548640"/>
          </a:xfrm>
          <a:prstGeom prst="rect">
            <a:avLst/>
          </a:prstGeom>
          <a:solidFill>
            <a:srgbClr val="F97316">
              <a:alpha val="25000"/>
            </a:srgbClr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3337560"/>
            <a:ext cx="45720" cy="5486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3337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paperhub-ingest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수집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675120" y="731520"/>
            <a:ext cx="1097280" cy="548640"/>
          </a:xfrm>
          <a:prstGeom prst="rect">
            <a:avLst/>
          </a:prstGeom>
          <a:solidFill>
            <a:srgbClr val="3574D4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75120" y="7315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Tables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675120" y="1600200"/>
            <a:ext cx="1097280" cy="548640"/>
          </a:xfrm>
          <a:prstGeom prst="rect">
            <a:avLst/>
          </a:prstGeom>
          <a:solidFill>
            <a:srgbClr val="F97316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75120" y="16002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Bedrock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Pro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675120" y="2468880"/>
            <a:ext cx="1097280" cy="54864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67512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APIs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PubMed/arXiv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675120" y="3337560"/>
            <a:ext cx="1097280" cy="548640"/>
          </a:xfrm>
          <a:prstGeom prst="rect">
            <a:avLst/>
          </a:prstGeom>
          <a:solidFill>
            <a:srgbClr val="E7157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675120" y="3337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EventBridge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6시간 주기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955280" y="1097280"/>
            <a:ext cx="914400" cy="548640"/>
          </a:xfrm>
          <a:prstGeom prst="rect">
            <a:avLst/>
          </a:prstGeom>
          <a:solidFill>
            <a:srgbClr val="3F8624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955280" y="1097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Cache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2011680"/>
            <a:ext cx="914400" cy="548640"/>
          </a:xfrm>
          <a:prstGeom prst="rect">
            <a:avLst/>
          </a:prstGeom>
          <a:solidFill>
            <a:srgbClr val="FF4F8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955280" y="2011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26480" y="1005840"/>
            <a:ext cx="548640" cy="0"/>
          </a:xfrm>
          <a:prstGeom prst="line">
            <a:avLst/>
          </a:prstGeom>
          <a:noFill/>
          <a:ln w="12700">
            <a:solidFill>
              <a:srgbClr val="8B949E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126480" y="1874520"/>
            <a:ext cx="548640" cy="0"/>
          </a:xfrm>
          <a:prstGeom prst="line">
            <a:avLst/>
          </a:prstGeom>
          <a:noFill/>
          <a:ln w="12700">
            <a:solidFill>
              <a:srgbClr val="8B949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126480" y="2743200"/>
            <a:ext cx="548640" cy="0"/>
          </a:xfrm>
          <a:prstGeom prst="line">
            <a:avLst/>
          </a:prstGeom>
          <a:noFill/>
          <a:ln w="12700">
            <a:solidFill>
              <a:srgbClr val="8B949E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6126480" y="3611880"/>
            <a:ext cx="548640" cy="0"/>
          </a:xfrm>
          <a:prstGeom prst="line">
            <a:avLst/>
          </a:prstGeom>
          <a:noFill/>
          <a:ln w="12700">
            <a:solidFill>
              <a:srgbClr val="8B949E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274320" y="4297680"/>
            <a:ext cx="8595360" cy="32004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Region: us-east-1  |  Infrastructure: AWS CDK 2.244.0 (TypeScript)  |  Runtime: Python 3.12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AWS 서비스 상세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84048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서비스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용도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Lambda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서버리스 컴퓨팅 (4개 함수)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3.12, 256MB-1GB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DynamoDB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NoSQL DB (2개 테이블)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On-demand, TTL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정적 호스팅 &amp; PDF 캐싱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2개 버킷, 30일 수명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Gateway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 API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CORS, /prod 스테이지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CloudFront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CDN &amp; HTTPS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OAC, 404 처리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Bedrock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모델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Nova Pro v1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EventBridge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스케줄러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6시간 주기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 Functions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워크플로우 오케스트레이션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병렬 AI 처리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92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액세스 제어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9D1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Lambda별 세분화 권한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3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기술 스택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2606040" cy="411480"/>
          </a:xfrm>
          <a:prstGeom prst="rect">
            <a:avLst/>
          </a:prstGeom>
          <a:solidFill>
            <a:srgbClr val="58A6FF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 (ES6+)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HTML5 / CSS3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PDF.js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2606040" cy="411480"/>
          </a:xfrm>
          <a:prstGeom prst="rect">
            <a:avLst/>
          </a:prstGeom>
          <a:solidFill>
            <a:srgbClr val="F97316">
              <a:alpha val="3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5544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3.12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boto3 (AWS SDK)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urllib / xml.etree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05840"/>
            <a:ext cx="2606040" cy="411480"/>
          </a:xfrm>
          <a:prstGeom prst="rect">
            <a:avLst/>
          </a:prstGeom>
          <a:solidFill>
            <a:srgbClr val="6366F1">
              <a:alpha val="3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55448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CDK 2.244.0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CloudFormation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71800"/>
            <a:ext cx="2606040" cy="411480"/>
          </a:xfrm>
          <a:prstGeom prst="rect">
            <a:avLst/>
          </a:prstGeom>
          <a:solidFill>
            <a:srgbClr val="2DD4BF">
              <a:alpha val="3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3520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Bedrock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Pro v1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max_tokens: 2048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9184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2971800"/>
            <a:ext cx="2606040" cy="411480"/>
          </a:xfrm>
          <a:prstGeom prst="rect">
            <a:avLst/>
          </a:prstGeom>
          <a:solidFill>
            <a:srgbClr val="F472B6">
              <a:alpha val="3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APIs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520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PubMed (NLM)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 (200M+)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971800"/>
            <a:ext cx="2606040" cy="411480"/>
          </a:xfrm>
          <a:prstGeom prst="rect">
            <a:avLst/>
          </a:prstGeom>
          <a:solidFill>
            <a:srgbClr val="3FB950">
              <a:alpha val="3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30175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35204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CloudFront + S3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 Hosting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(OAC)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3574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 설계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3931920" cy="384048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3931920" cy="411480"/>
          </a:xfrm>
          <a:prstGeom prst="rect">
            <a:avLst/>
          </a:prstGeom>
          <a:solidFill>
            <a:srgbClr val="58A6FF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paperhub-papers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Key: 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paperId (String)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Key: 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(String)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GSI: by-category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PK: category / SK: publishedDate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Attributes: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title, abstract, authors (list)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doi, publishedDate, source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category, pdfUrl, sourceUrl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citationCount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oneLineSummary, pageSummary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keywords, difficulty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228600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931920" cy="411480"/>
          </a:xfrm>
          <a:prstGeom prst="rect">
            <a:avLst/>
          </a:prstGeom>
          <a:solidFill>
            <a:srgbClr val="F472B6">
              <a:alpha val="4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paperhub-bookmarks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46304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Partition Key: 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userId (String)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Key: </a:t>
            </a:r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paperId (String)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Attributes: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createdAt (ISO timestamp)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3474720"/>
            <a:ext cx="3931920" cy="1280160"/>
          </a:xfrm>
          <a:prstGeom prst="rect">
            <a:avLst/>
          </a:prstGeom>
          <a:solidFill>
            <a:srgbClr val="1C2333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 특징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388620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Pay-per-request 빌링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자동 만료 관리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Auto-scaling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UI / UX 디자인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17373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다크 테마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모던 다크 UI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오렌지/인디고 그래디언트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글래스모피즘 카드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54864" cy="1737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143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반응형 레이아웃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20440" y="1508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Grid (auto-fill)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350px 최소 카드 크기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모바일 대응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05840"/>
            <a:ext cx="54864" cy="17373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1143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검색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5080" y="1508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Cmd+K 단축키 지원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키 검색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트렌딩 키워드 버튼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971800"/>
            <a:ext cx="54864" cy="173736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상세 보기 모달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34747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7개 탭 구성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요약/분석/영어학습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AI튜터/질문/슬라이드/비교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91840" y="2971800"/>
            <a:ext cx="54864" cy="173736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카테고리 필터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520440" y="34747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11개 분야 필터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ML, DL, NLP, CV 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원클릭 전환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2971800"/>
            <a:ext cx="54864" cy="1737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렌더링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55080" y="34747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응답 렌더링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구조화된 출력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CSV/MD 내보내기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향후 발전 방향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2606040" cy="4572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1143000"/>
            <a:ext cx="685800" cy="228600"/>
          </a:xfrm>
          <a:prstGeom prst="rect">
            <a:avLst/>
          </a:prstGeom>
          <a:solidFill>
            <a:srgbClr val="EF4444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1143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143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인증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Cognito 통합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개인별 데이터 관리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005840"/>
            <a:ext cx="260604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0" y="1143000"/>
            <a:ext cx="685800" cy="228600"/>
          </a:xfrm>
          <a:prstGeom prst="rect">
            <a:avLst/>
          </a:prstGeom>
          <a:solidFill>
            <a:srgbClr val="EF4444">
              <a:alpha val="3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143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474720" y="1143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Paper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74720" y="15544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 논문 업로드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관리 시스템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005840"/>
            <a:ext cx="2606040" cy="45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8" name="Shape 16"/>
          <p:cNvSpPr/>
          <p:nvPr/>
        </p:nvSpPr>
        <p:spPr>
          <a:xfrm>
            <a:off x="7863840" y="1143000"/>
            <a:ext cx="685800" cy="228600"/>
          </a:xfrm>
          <a:prstGeom prst="rect">
            <a:avLst/>
          </a:prstGeom>
          <a:solidFill>
            <a:srgbClr val="FCD34D">
              <a:alpha val="3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0" y="1143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309360" y="1143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읽기 스트릭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309360" y="15544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동기 부여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목표 설정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971800"/>
            <a:ext cx="2606040" cy="457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4560" y="3108960"/>
            <a:ext cx="685800" cy="228600"/>
          </a:xfrm>
          <a:prstGeom prst="rect">
            <a:avLst/>
          </a:prstGeom>
          <a:solidFill>
            <a:srgbClr val="FCD34D">
              <a:alpha val="3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2194560" y="3108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008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뷰어 내장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0080" y="3520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PDF 직접 열람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하이라이트 기능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9184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91840" y="2971800"/>
            <a:ext cx="2606040" cy="45720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30" name="Shape 28"/>
          <p:cNvSpPr/>
          <p:nvPr/>
        </p:nvSpPr>
        <p:spPr>
          <a:xfrm>
            <a:off x="5029200" y="3108960"/>
            <a:ext cx="685800" cy="228600"/>
          </a:xfrm>
          <a:prstGeom prst="rect">
            <a:avLst/>
          </a:prstGeom>
          <a:solidFill>
            <a:srgbClr val="8B949E">
              <a:alpha val="3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0" y="3108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47472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72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협업 기능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3474720" y="3520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북마크, 노트 공유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그룹 관리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26480" y="2971800"/>
            <a:ext cx="2606040" cy="1737360"/>
          </a:xfrm>
          <a:prstGeom prst="rect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26480" y="2971800"/>
            <a:ext cx="2606040" cy="4572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6" name="Shape 34"/>
          <p:cNvSpPr/>
          <p:nvPr/>
        </p:nvSpPr>
        <p:spPr>
          <a:xfrm>
            <a:off x="7863840" y="3108960"/>
            <a:ext cx="685800" cy="228600"/>
          </a:xfrm>
          <a:prstGeom prst="rect">
            <a:avLst/>
          </a:prstGeom>
          <a:solidFill>
            <a:srgbClr val="8B949E">
              <a:alpha val="3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0" y="3108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30936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심층 QA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309360" y="3520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 전문 기반 질의응답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벡터 검색 통합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6366F1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F9731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3657600" y="2286000"/>
            <a:ext cx="182880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25603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34747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</a:t>
            </a:r>
            <a:pPr algn="ctr"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github.com/heotaewoong/Paperhub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Deployed: </a:t>
            </a:r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d1v25u4s2s5vh4.cloudfront.net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PaperHub  |  AI-Powered Academic Paper Discovery Platform  |  2025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PaperHub - AI 기반 학술 논문 탐색 및 학습 플랫폼</dc:title>
  <dc:subject>PptxGenJS Presentation</dc:subject>
  <dc:creator>PaperHub Team</dc:creator>
  <cp:lastModifiedBy>PaperHub Team</cp:lastModifiedBy>
  <cp:revision>1</cp:revision>
  <dcterms:created xsi:type="dcterms:W3CDTF">2026-03-27T05:51:13Z</dcterms:created>
  <dcterms:modified xsi:type="dcterms:W3CDTF">2026-03-27T05:51:13Z</dcterms:modified>
</cp:coreProperties>
</file>