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PaperHub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학술 논문 탐색 및 학습 플랫폼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성균관대학교 바이오헬스케어학과</a:t>
            </a:r>
            <a:pPr indent="0" marL="0">
              <a:buNone/>
            </a:pPr>
            <a:r>
              <a:rPr lang="en-US" sz="14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클라우드 프로젝트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Amazon Bedrock  |  Real-time Multi-source Search  |  AI Learning Assistant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방대한 학술 논문 탐색의 어려움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논문 이해 장벽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분산된 논문 데이터베이스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논문 탐색, 요약, 학습 지원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멀티소스 통합 검색 플랫폼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학습 기능 내장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94760"/>
            <a:ext cx="365760" cy="3657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멀티소스 검색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+ arXiv + OpenAlex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379476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069080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 &amp; 요약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908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Nova Pro 활용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79476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학습 지원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8가지 학습 모드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기능 한눈에 보기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659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논문 검색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914400" cy="274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6032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PubMed, arXiv, OpenAlex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소스 통합 검색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카테고리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6596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9728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74320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논문 분석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0" y="2377440"/>
            <a:ext cx="9144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56032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한줄/페이지 요약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추출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난이도 평가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6596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196596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89204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 학습 지원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2377440"/>
            <a:ext cx="914400" cy="2743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56032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어휘, 문장분석, 퀴즈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작문 첨삭, 발표 준비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8가지 모드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96596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097280"/>
            <a:ext cx="196596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04088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추천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040880" y="2377440"/>
            <a:ext cx="914400" cy="2743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56032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기반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추천 엔진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맞춤 추천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멀티소스 검색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22860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920240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의학/생명과학 논문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NLM eutils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파싱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0604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54864" cy="2286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2.4M+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컴퓨터과학/물리학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 feed 파싱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프리프린트 논문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60604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51560"/>
            <a:ext cx="54864" cy="2286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OpenAlex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200M+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589520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학술 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역색인 초록 복원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886200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3840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카테고리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6시간 자동 수집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97480" y="388620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0" y="3840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트렌딩 검색어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CRISPR, AlphaFold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886200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3840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정렬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관련도/인용수/발행일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3886200"/>
            <a:ext cx="274320" cy="27432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3840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제거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2376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 기반 필터링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논문 분석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0" cy="32004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Nova Pro v1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0604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260604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한줄 요약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내용을 한 문장으로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한국어/영어 지원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0604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63040"/>
            <a:ext cx="260604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1페이지 구조화 요약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배경, 방법론, 결과, 결론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체계적 분석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0604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63040"/>
            <a:ext cx="260604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추출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키워드 5개 자동 추출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분야 파악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260604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260604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난이도 평가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초급 / 중급 / 고급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수준 판단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063240"/>
            <a:ext cx="260604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063240"/>
            <a:ext cx="260604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동향 분석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연도별 트렌드 시각화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OpenAlex 데이터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063240"/>
            <a:ext cx="260604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063240"/>
            <a:ext cx="260604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분석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 논문 대조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방법론/결과/강약점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튜터 &amp; 학습 도구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691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548640" cy="54864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튜터 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기반 실시간 Q&amp;A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멀티턴 대화 지원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히스토리 인식 응답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54864" cy="1691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Shape 10"/>
          <p:cNvSpPr/>
          <p:nvPr/>
        </p:nvSpPr>
        <p:spPr>
          <a:xfrm>
            <a:off x="4983480" y="1280160"/>
            <a:ext cx="548640" cy="548640"/>
          </a:xfrm>
          <a:prstGeom prst="ellipse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150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질문 생성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15544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비판적 사고 질문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비평/확장/방법론/응용/한계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힌트 제공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7764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54864" cy="1691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자동 생성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474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5장 발표 자료 자동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제목/배경/방법/결과/결론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 노트 포함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397764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54864" cy="16916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3200400"/>
            <a:ext cx="548640" cy="548640"/>
          </a:xfrm>
          <a:prstGeom prst="ellipse">
            <a:avLst/>
          </a:prstGeom>
          <a:solidFill>
            <a:srgbClr val="F472B6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150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분석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0" y="3474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논문 비교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방법론, 결과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강약점 분석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영어 학습 모드 (8가지)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43000"/>
            <a:ext cx="365760" cy="3657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어휘 추출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단어, 한국어 의미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예문, 발음 제공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19659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14300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143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문장 분석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주어/동사/목적어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직역/의역 비교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9659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143000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1143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작문 첨삭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문법 교정, 학술 표현 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100점 만점 채점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19659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14300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1143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빈칸 채우기, 추론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독해 5문제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19659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063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표현 패턴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표현, 섹션별 분류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Intro/Methods/Results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06040" y="2926080"/>
            <a:ext cx="19659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0" y="3063240"/>
            <a:ext cx="365760" cy="365760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0" y="3063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발음 연습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0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음성 변환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발음 확인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19659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06324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3063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준비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2분 스크립트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질문, 유용 표현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03720" y="2926080"/>
            <a:ext cx="1965960" cy="1691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40880" y="3063240"/>
            <a:ext cx="365760" cy="365760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41" name="Text 39"/>
          <p:cNvSpPr/>
          <p:nvPr/>
        </p:nvSpPr>
        <p:spPr>
          <a:xfrm>
            <a:off x="70408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498080" y="3063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통계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40880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진행도 추적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Markdown/CSV 내보내기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개인화 &amp; AI 추천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수집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관심 논문 즐겨찾기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10개 분석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12344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6052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관심 분야 분석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6052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Nova Pro로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파악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123444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논문 탐색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후보군 구성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82296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결과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611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맞춤 추천 논문 제공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추천 논문별 AI 생성 추천 이유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논문과의 연관성 분석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기반 후보 논문 필터링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아키텍처 구성도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PaperHub Cloud Infrastructure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54480" y="548640"/>
            <a:ext cx="7406640" cy="4343400"/>
          </a:xfrm>
          <a:prstGeom prst="rect">
            <a:avLst/>
          </a:prstGeom>
          <a:solidFill>
            <a:srgbClr val="1C2333">
              <a:alpha val="30000"/>
            </a:srgbClr>
          </a:solidFill>
          <a:ln w="15240">
            <a:solidFill>
              <a:srgbClr val="FF990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691640" y="5760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 (us-east-1)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" y="1691640"/>
            <a:ext cx="1097280" cy="109728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" y="1783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34440" y="1965960"/>
            <a:ext cx="548640" cy="0"/>
          </a:xfrm>
          <a:prstGeom prst="line">
            <a:avLst/>
          </a:prstGeom>
          <a:noFill/>
          <a:ln w="19050">
            <a:solidFill>
              <a:srgbClr val="8C6BB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280160" y="183794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1783080" y="1508760"/>
            <a:ext cx="10972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8C6B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83080" y="1508760"/>
            <a:ext cx="1097280" cy="36576"/>
          </a:xfrm>
          <a:prstGeom prst="rect">
            <a:avLst/>
          </a:prstGeom>
          <a:solidFill>
            <a:srgbClr val="8C6BB1"/>
          </a:solidFill>
          <a:ln/>
        </p:spPr>
      </p:sp>
      <p:sp>
        <p:nvSpPr>
          <p:cNvPr id="13" name="Text 11"/>
          <p:cNvSpPr/>
          <p:nvPr/>
        </p:nvSpPr>
        <p:spPr>
          <a:xfrm>
            <a:off x="1837944" y="1563624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6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&amp; HTTPS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80360" y="1828800"/>
            <a:ext cx="365760" cy="0"/>
          </a:xfrm>
          <a:prstGeom prst="line">
            <a:avLst/>
          </a:prstGeom>
          <a:noFill/>
          <a:ln w="19050">
            <a:solidFill>
              <a:srgbClr val="569A31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6120" y="1508760"/>
            <a:ext cx="10515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69A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508760"/>
            <a:ext cx="1051560" cy="36576"/>
          </a:xfrm>
          <a:prstGeom prst="rect">
            <a:avLst/>
          </a:prstGeom>
          <a:solidFill>
            <a:srgbClr val="569A31"/>
          </a:solidFill>
          <a:ln/>
        </p:spPr>
      </p:sp>
      <p:sp>
        <p:nvSpPr>
          <p:cNvPr id="17" name="Text 15"/>
          <p:cNvSpPr/>
          <p:nvPr/>
        </p:nvSpPr>
        <p:spPr>
          <a:xfrm>
            <a:off x="3300984" y="1563624"/>
            <a:ext cx="941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9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Bucket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SPA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34440" y="2514600"/>
            <a:ext cx="548640" cy="0"/>
          </a:xfrm>
          <a:prstGeom prst="line">
            <a:avLst/>
          </a:prstGeom>
          <a:noFill/>
          <a:ln w="19050">
            <a:solidFill>
              <a:srgbClr val="A166F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280160" y="238658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1783080" y="2286000"/>
            <a:ext cx="109728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A16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83080" y="2286000"/>
            <a:ext cx="1097280" cy="36576"/>
          </a:xfrm>
          <a:prstGeom prst="rect">
            <a:avLst/>
          </a:prstGeom>
          <a:solidFill>
            <a:srgbClr val="A166FF"/>
          </a:solidFill>
          <a:ln/>
        </p:spPr>
      </p:sp>
      <p:sp>
        <p:nvSpPr>
          <p:cNvPr id="22" name="Text 20"/>
          <p:cNvSpPr/>
          <p:nvPr/>
        </p:nvSpPr>
        <p:spPr>
          <a:xfrm>
            <a:off x="1837944" y="2340864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1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/prod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80360" y="2606040"/>
            <a:ext cx="36576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834640" y="247802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246120" y="2286000"/>
            <a:ext cx="2423160" cy="2514600"/>
          </a:xfrm>
          <a:prstGeom prst="rect">
            <a:avLst/>
          </a:prstGeom>
          <a:solidFill>
            <a:srgbClr val="161B22">
              <a:alpha val="30000"/>
            </a:srgbClr>
          </a:solidFill>
          <a:ln w="8890">
            <a:solidFill>
              <a:srgbClr val="FF990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337560" y="23134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 (Python 3.12)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383280" y="2514600"/>
            <a:ext cx="2148840" cy="411480"/>
          </a:xfrm>
          <a:prstGeom prst="rect">
            <a:avLst/>
          </a:prstGeom>
          <a:solidFill>
            <a:srgbClr val="1C2333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514600"/>
            <a:ext cx="36576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3493008" y="2532888"/>
            <a:ext cx="1965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paperhub-serve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서빙 &amp; 실시간 검색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83280" y="3017520"/>
            <a:ext cx="2148840" cy="411480"/>
          </a:xfrm>
          <a:prstGeom prst="rect">
            <a:avLst/>
          </a:prstGeom>
          <a:solidFill>
            <a:srgbClr val="1C2333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3017520"/>
            <a:ext cx="36576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3493008" y="3035808"/>
            <a:ext cx="1965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paperhub-summarize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 &amp; 요약 생성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83280" y="3520440"/>
            <a:ext cx="2148840" cy="411480"/>
          </a:xfrm>
          <a:prstGeom prst="rect">
            <a:avLst/>
          </a:prstGeom>
          <a:solidFill>
            <a:srgbClr val="1C2333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3280" y="3520440"/>
            <a:ext cx="36576" cy="4114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5" name="Text 33"/>
          <p:cNvSpPr/>
          <p:nvPr/>
        </p:nvSpPr>
        <p:spPr>
          <a:xfrm>
            <a:off x="3493008" y="3538728"/>
            <a:ext cx="1965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paperhub-recommend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추천 엔진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83280" y="4023360"/>
            <a:ext cx="2148840" cy="411480"/>
          </a:xfrm>
          <a:prstGeom prst="rect">
            <a:avLst/>
          </a:prstGeom>
          <a:solidFill>
            <a:srgbClr val="1C2333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3280" y="4023360"/>
            <a:ext cx="36576" cy="4114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8" name="Text 36"/>
          <p:cNvSpPr/>
          <p:nvPr/>
        </p:nvSpPr>
        <p:spPr>
          <a:xfrm>
            <a:off x="3493008" y="4041648"/>
            <a:ext cx="1965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paperhub-ingest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자동 수집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89320" y="777240"/>
            <a:ext cx="1508760" cy="1371600"/>
          </a:xfrm>
          <a:prstGeom prst="rect">
            <a:avLst/>
          </a:prstGeom>
          <a:solidFill>
            <a:srgbClr val="161B22">
              <a:alpha val="40000"/>
            </a:srgbClr>
          </a:solidFill>
          <a:ln w="8890">
            <a:solidFill>
              <a:srgbClr val="4053D6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080760" y="80467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0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080760" y="1005840"/>
            <a:ext cx="13258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4053D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0760" y="1005840"/>
            <a:ext cx="1325880" cy="36576"/>
          </a:xfrm>
          <a:prstGeom prst="rect">
            <a:avLst/>
          </a:prstGeom>
          <a:solidFill>
            <a:srgbClr val="4053D6"/>
          </a:solidFill>
          <a:ln/>
        </p:spPr>
      </p:sp>
      <p:sp>
        <p:nvSpPr>
          <p:cNvPr id="43" name="Text 41"/>
          <p:cNvSpPr/>
          <p:nvPr/>
        </p:nvSpPr>
        <p:spPr>
          <a:xfrm>
            <a:off x="6135624" y="1060704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paperhub-papers</a:t>
            </a:r>
            <a:endParaRPr lang="en-US" sz="7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PK:paperId / GSI:category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080760" y="1554480"/>
            <a:ext cx="13258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0760" y="1554480"/>
            <a:ext cx="132588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6" name="Text 44"/>
          <p:cNvSpPr/>
          <p:nvPr/>
        </p:nvSpPr>
        <p:spPr>
          <a:xfrm>
            <a:off x="6135624" y="1609344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paperhub-bookmarks</a:t>
            </a:r>
            <a:endParaRPr lang="en-US" sz="7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PK:userId / SK:paperId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989320" y="2331720"/>
            <a:ext cx="150876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01A88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989320" y="2331720"/>
            <a:ext cx="1508760" cy="36576"/>
          </a:xfrm>
          <a:prstGeom prst="rect">
            <a:avLst/>
          </a:prstGeom>
          <a:solidFill>
            <a:srgbClr val="01A88D"/>
          </a:solidFill>
          <a:ln/>
        </p:spPr>
      </p:sp>
      <p:sp>
        <p:nvSpPr>
          <p:cNvPr id="49" name="Text 47"/>
          <p:cNvSpPr/>
          <p:nvPr/>
        </p:nvSpPr>
        <p:spPr>
          <a:xfrm>
            <a:off x="6044184" y="2386584"/>
            <a:ext cx="13990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A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Pro v1 (2048 tok)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89320" y="3108960"/>
            <a:ext cx="15087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69A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89320" y="3108960"/>
            <a:ext cx="1508760" cy="36576"/>
          </a:xfrm>
          <a:prstGeom prst="rect">
            <a:avLst/>
          </a:prstGeom>
          <a:solidFill>
            <a:srgbClr val="569A31"/>
          </a:solidFill>
          <a:ln/>
        </p:spPr>
      </p:sp>
      <p:sp>
        <p:nvSpPr>
          <p:cNvPr id="52" name="Text 50"/>
          <p:cNvSpPr/>
          <p:nvPr/>
        </p:nvSpPr>
        <p:spPr>
          <a:xfrm>
            <a:off x="6044184" y="316382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9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Bucket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Cache (30d TTL)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89320" y="3749040"/>
            <a:ext cx="15087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F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989320" y="3749040"/>
            <a:ext cx="1508760" cy="36576"/>
          </a:xfrm>
          <a:prstGeom prst="rect">
            <a:avLst/>
          </a:prstGeom>
          <a:solidFill>
            <a:srgbClr val="FF4F8B"/>
          </a:solidFill>
          <a:ln/>
        </p:spPr>
      </p:sp>
      <p:sp>
        <p:nvSpPr>
          <p:cNvPr id="55" name="Text 53"/>
          <p:cNvSpPr/>
          <p:nvPr/>
        </p:nvSpPr>
        <p:spPr>
          <a:xfrm>
            <a:off x="6044184" y="380390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 Schedule (Cron)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989320" y="4389120"/>
            <a:ext cx="150876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F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989320" y="4389120"/>
            <a:ext cx="1508760" cy="36576"/>
          </a:xfrm>
          <a:prstGeom prst="rect">
            <a:avLst/>
          </a:prstGeom>
          <a:solidFill>
            <a:srgbClr val="FF4F8B"/>
          </a:solidFill>
          <a:ln/>
        </p:spPr>
      </p:sp>
      <p:sp>
        <p:nvSpPr>
          <p:cNvPr id="58" name="Text 56"/>
          <p:cNvSpPr/>
          <p:nvPr/>
        </p:nvSpPr>
        <p:spPr>
          <a:xfrm>
            <a:off x="6044184" y="444398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Functions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AI 처리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772400" y="777240"/>
            <a:ext cx="1188720" cy="2697480"/>
          </a:xfrm>
          <a:prstGeom prst="rect">
            <a:avLst/>
          </a:prstGeom>
          <a:solidFill>
            <a:srgbClr val="161B22">
              <a:alpha val="40000"/>
            </a:srgbClr>
          </a:solidFill>
          <a:ln w="8890">
            <a:solidFill>
              <a:srgbClr val="8B949E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7818120" y="80467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845552" y="1005840"/>
            <a:ext cx="1024128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845552" y="1005840"/>
            <a:ext cx="1024128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3" name="Text 61"/>
          <p:cNvSpPr/>
          <p:nvPr/>
        </p:nvSpPr>
        <p:spPr>
          <a:xfrm>
            <a:off x="7900416" y="10607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</a:t>
            </a:r>
            <a:endParaRPr lang="en-US" sz="7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eutils (36M+)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845552" y="1554480"/>
            <a:ext cx="1024128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845552" y="1554480"/>
            <a:ext cx="1024128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6" name="Text 64"/>
          <p:cNvSpPr/>
          <p:nvPr/>
        </p:nvSpPr>
        <p:spPr>
          <a:xfrm>
            <a:off x="7900416" y="16093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7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 (2.4M+)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845552" y="2103120"/>
            <a:ext cx="1024128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845552" y="2103120"/>
            <a:ext cx="1024128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9" name="Text 67"/>
          <p:cNvSpPr/>
          <p:nvPr/>
        </p:nvSpPr>
        <p:spPr>
          <a:xfrm>
            <a:off x="7900416" y="21579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OpenAlex</a:t>
            </a:r>
            <a:endParaRPr lang="en-US" sz="7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(200M+)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845552" y="2651760"/>
            <a:ext cx="1024128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845552" y="2651760"/>
            <a:ext cx="1024128" cy="36576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72" name="Text 70"/>
          <p:cNvSpPr/>
          <p:nvPr/>
        </p:nvSpPr>
        <p:spPr>
          <a:xfrm>
            <a:off x="7900416" y="2706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Scholar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532120" y="2697480"/>
            <a:ext cx="457200" cy="-868680"/>
          </a:xfrm>
          <a:prstGeom prst="line">
            <a:avLst/>
          </a:prstGeom>
          <a:noFill/>
          <a:ln w="19050">
            <a:solidFill>
              <a:srgbClr val="4053D6"/>
            </a:solidFill>
            <a:prstDash val="dash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5532120" y="215341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5532120" y="2651760"/>
            <a:ext cx="2313432" cy="-822960"/>
          </a:xfrm>
          <a:prstGeom prst="line">
            <a:avLst/>
          </a:prstGeom>
          <a:noFill/>
          <a:ln w="19050">
            <a:solidFill>
              <a:srgbClr val="C9D1D9"/>
            </a:solidFill>
            <a:prstDash val="dash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6492240" y="205740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5532120" y="3200400"/>
            <a:ext cx="457200" cy="-502920"/>
          </a:xfrm>
          <a:prstGeom prst="line">
            <a:avLst/>
          </a:prstGeom>
          <a:noFill/>
          <a:ln w="19050">
            <a:solidFill>
              <a:srgbClr val="01A88D"/>
            </a:solidFill>
            <a:prstDash val="solid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5532120" y="283921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5532120" y="3108960"/>
            <a:ext cx="457200" cy="-1691640"/>
          </a:xfrm>
          <a:prstGeom prst="line">
            <a:avLst/>
          </a:prstGeom>
          <a:noFill/>
          <a:ln w="19050">
            <a:solidFill>
              <a:srgbClr val="4053D6"/>
            </a:solidFill>
            <a:prstDash val="dash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5532120" y="3703320"/>
            <a:ext cx="457200" cy="-868680"/>
          </a:xfrm>
          <a:prstGeom prst="line">
            <a:avLst/>
          </a:prstGeom>
          <a:noFill/>
          <a:ln w="19050">
            <a:solidFill>
              <a:srgbClr val="01A88D"/>
            </a:solidFill>
            <a:prstDash val="dash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5532120" y="3611880"/>
            <a:ext cx="457200" cy="-1828800"/>
          </a:xfrm>
          <a:prstGeom prst="line">
            <a:avLst/>
          </a:prstGeom>
          <a:noFill/>
          <a:ln w="19050">
            <a:solidFill>
              <a:srgbClr val="F472B6"/>
            </a:solidFill>
            <a:prstDash val="dash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5532120" y="4206240"/>
            <a:ext cx="2313432" cy="-1280160"/>
          </a:xfrm>
          <a:prstGeom prst="line">
            <a:avLst/>
          </a:prstGeom>
          <a:noFill/>
          <a:ln w="19050">
            <a:solidFill>
              <a:srgbClr val="C9D1D9"/>
            </a:solidFill>
            <a:prstDash val="dash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6400800" y="347472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papers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5532120" y="4160520"/>
            <a:ext cx="457200" cy="-2697480"/>
          </a:xfrm>
          <a:prstGeom prst="line">
            <a:avLst/>
          </a:prstGeom>
          <a:noFill/>
          <a:ln w="19050">
            <a:solidFill>
              <a:srgbClr val="4053D6"/>
            </a:solidFill>
            <a:prstDash val="dash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5989320" y="3977640"/>
            <a:ext cx="-320040" cy="246888"/>
          </a:xfrm>
          <a:prstGeom prst="line">
            <a:avLst/>
          </a:prstGeom>
          <a:noFill/>
          <a:ln w="19050">
            <a:solidFill>
              <a:srgbClr val="FF4F8B"/>
            </a:solidFill>
            <a:prstDash val="solid"/>
            <a:tailEnd type="triangle"/>
          </a:ln>
        </p:spPr>
      </p:sp>
      <p:sp>
        <p:nvSpPr>
          <p:cNvPr id="86" name="Text 84"/>
          <p:cNvSpPr/>
          <p:nvPr/>
        </p:nvSpPr>
        <p:spPr>
          <a:xfrm>
            <a:off x="5486400" y="409651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137160" y="4892040"/>
            <a:ext cx="8869680" cy="1828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8" name="Shape 86"/>
          <p:cNvSpPr/>
          <p:nvPr/>
        </p:nvSpPr>
        <p:spPr>
          <a:xfrm>
            <a:off x="7772400" y="4023360"/>
            <a:ext cx="1188720" cy="320040"/>
          </a:xfrm>
          <a:prstGeom prst="rect">
            <a:avLst/>
          </a:prstGeom>
          <a:solidFill>
            <a:srgbClr val="DD344C">
              <a:alpha val="25000"/>
            </a:srgbClr>
          </a:solidFill>
          <a:ln w="6350">
            <a:solidFill>
              <a:srgbClr val="DD344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772400" y="4023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D3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권한 제어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772400" y="4434840"/>
            <a:ext cx="1188720" cy="320040"/>
          </a:xfrm>
          <a:prstGeom prst="rect">
            <a:avLst/>
          </a:prstGeom>
          <a:solidFill>
            <a:srgbClr val="F7981F">
              <a:alpha val="25000"/>
            </a:srgbClr>
          </a:solidFill>
          <a:ln w="6350">
            <a:solidFill>
              <a:srgbClr val="F7981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772400" y="4434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79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CDK 2.244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Region: us-east-1  |  IaC: AWS CDK 2.244.0 (TypeScript)  |  Runtime: Python 3.12  |  4 Lambda Functions  |  2 DynamoDB Tables  |  2 S3 Buckets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동작 흐름 ① 논문 검색 프로세스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265176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640080"/>
            <a:ext cx="265176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749808"/>
            <a:ext cx="320040" cy="32004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749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731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검색 입력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097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검색어 입력 (예: "CRISPR")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Cmd+K / Enter 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JS 이벤트 발생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90672" y="1005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640080"/>
            <a:ext cx="265176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640080"/>
            <a:ext cx="2651760" cy="36576"/>
          </a:xfrm>
          <a:prstGeom prst="rect">
            <a:avLst/>
          </a:prstGeom>
          <a:solidFill>
            <a:srgbClr val="A16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447288" y="749808"/>
            <a:ext cx="320040" cy="320040"/>
          </a:xfrm>
          <a:prstGeom prst="ellipse">
            <a:avLst/>
          </a:prstGeom>
          <a:solidFill>
            <a:srgbClr val="A1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749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731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라우팅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1097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/search?q=CRISPR&amp;source=all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헤더 처리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/prod 스테이지 → Lambda 매핑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71032" y="1005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640080"/>
            <a:ext cx="265176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640080"/>
            <a:ext cx="265176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7648" y="749808"/>
            <a:ext cx="320040" cy="3200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749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20840" y="731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Lambda: serve 실행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1097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소스 병렬 호출 (asyncio)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XML, arXiv Atom 파싱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OpenAlex JSON 처리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103120"/>
            <a:ext cx="265176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103120"/>
            <a:ext cx="2651760" cy="36576"/>
          </a:xfrm>
          <a:prstGeom prst="rect">
            <a:avLst/>
          </a:prstGeom>
          <a:solidFill>
            <a:srgbClr val="C9D1D9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2212848"/>
            <a:ext cx="320040" cy="320040"/>
          </a:xfrm>
          <a:prstGeom prst="ellipse">
            <a:avLst/>
          </a:prstGeom>
          <a:solidFill>
            <a:srgbClr val="C9D1D9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API 응답 수집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PubMed: esearch → efetch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 /api/query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OpenAlex: /works?search=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10건 수집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90672" y="2468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37560" y="2103120"/>
            <a:ext cx="265176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37560" y="2103120"/>
            <a:ext cx="265176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3" name="Shape 31"/>
          <p:cNvSpPr/>
          <p:nvPr/>
        </p:nvSpPr>
        <p:spPr>
          <a:xfrm>
            <a:off x="3447288" y="2212848"/>
            <a:ext cx="320040" cy="3200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4" name="Text 32"/>
          <p:cNvSpPr/>
          <p:nvPr/>
        </p:nvSpPr>
        <p:spPr>
          <a:xfrm>
            <a:off x="3447288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8404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통합 &amp; 정렬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제목 기반 중복 제거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관련도/인용수/날짜 정렬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소스별 URL 매핑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71032" y="2468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2103120"/>
            <a:ext cx="265176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2103120"/>
            <a:ext cx="26517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0" name="Shape 38"/>
          <p:cNvSpPr/>
          <p:nvPr/>
        </p:nvSpPr>
        <p:spPr>
          <a:xfrm>
            <a:off x="6327648" y="2212848"/>
            <a:ext cx="320040" cy="3200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72084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응답 반환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5508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30건 논문 메타데이터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DynamoDB에 캐싱 저장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카드 렌더링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 rot="5400000"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3703320"/>
            <a:ext cx="5029200" cy="12344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008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응답 구조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39776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"results": [{ "paperId": "pubmed_12345",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"CRISPR-Cas9...", "authors": [...],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"source": "pubmed", "citationCount": 142,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"sourceUrl": "https://pubmed.ncbi.nlm.nih.gov/..." }],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"totalResults": 30,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"sources": ["pubmed","arxiv","openalex"] }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760720" y="3703320"/>
            <a:ext cx="2926080" cy="123444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94360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지표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943600" y="4041648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51" name="Text 49"/>
          <p:cNvSpPr/>
          <p:nvPr/>
        </p:nvSpPr>
        <p:spPr>
          <a:xfrm>
            <a:off x="6144768" y="40233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응답 시간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06640" y="40233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~3초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43600" y="4251960"/>
            <a:ext cx="109728" cy="10972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54" name="Text 52"/>
          <p:cNvSpPr/>
          <p:nvPr/>
        </p:nvSpPr>
        <p:spPr>
          <a:xfrm>
            <a:off x="6144768" y="42336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소스당 수집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06640" y="4233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943600" y="4462272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7" name="Text 55"/>
          <p:cNvSpPr/>
          <p:nvPr/>
        </p:nvSpPr>
        <p:spPr>
          <a:xfrm>
            <a:off x="6144768" y="44439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메모리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06640" y="44439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256MB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943600" y="4672584"/>
            <a:ext cx="109728" cy="109728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0" name="Text 58"/>
          <p:cNvSpPr/>
          <p:nvPr/>
        </p:nvSpPr>
        <p:spPr>
          <a:xfrm>
            <a:off x="6144768" y="46542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타임아웃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406640" y="46542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동작 흐름 ② AI 요약 &amp; 자동 수집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251960" cy="4206240"/>
          </a:xfrm>
          <a:prstGeom prst="rect">
            <a:avLst/>
          </a:prstGeom>
          <a:solidFill>
            <a:srgbClr val="161B22">
              <a:alpha val="40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논문 분석 파이프라인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886200" cy="7315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20040" cy="32004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요청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"AI 요약" 버튼 클릭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/papers/{id}/summarize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 { type, language }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7373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3886200" cy="7315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03120"/>
            <a:ext cx="320040" cy="320040"/>
          </a:xfrm>
          <a:prstGeom prst="ellipse">
            <a:avLst/>
          </a:prstGeom>
          <a:solidFill>
            <a:srgbClr val="4053D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로드 &amp; 캐시 확인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DynamoDB에서 논문 조회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+ abstract 추출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요약 캐시 확인 (hit시 즉시 반환)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3886200" cy="7315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A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프롬프트 구성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분석 타입별 프롬프트 생성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 0.7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max_tokens: 2048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35661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3886200" cy="73152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추론 &amp; 캐시 저장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Pro v1 호출 (1GB, 5min)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 JSON 응답 생성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DynamoDB에 결과 캐싱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3886200" cy="137160"/>
          </a:xfrm>
          <a:prstGeom prst="rect">
            <a:avLst/>
          </a:prstGeom>
          <a:solidFill>
            <a:srgbClr val="6366F1">
              <a:alpha val="2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709160"/>
            <a:ext cx="3794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분석: oneline | page | vocab | sentences | quiz | chat | slides | keywords | difficulty | patterns ...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709160" y="640080"/>
            <a:ext cx="4251960" cy="2331720"/>
          </a:xfrm>
          <a:prstGeom prst="rect">
            <a:avLst/>
          </a:prstGeom>
          <a:solidFill>
            <a:srgbClr val="161B22">
              <a:alpha val="40000"/>
            </a:srgbClr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685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자동 수집 파이프라인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1005840"/>
            <a:ext cx="3886200" cy="457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1078992"/>
            <a:ext cx="274320" cy="274320"/>
          </a:xfrm>
          <a:prstGeom prst="ellipse">
            <a:avLst/>
          </a:prstGeom>
          <a:solidFill>
            <a:srgbClr val="FF4F8B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94960" y="10332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 트리거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1234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6시간 주기 (0/6/12/18시)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01768" y="14630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92040" y="1600200"/>
            <a:ext cx="3886200" cy="457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83480" y="1673352"/>
            <a:ext cx="274320" cy="2743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94960" y="16276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카테고리 순회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94960" y="1828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esearch → efetch (XML)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01768" y="205740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92040" y="2194560"/>
            <a:ext cx="3886200" cy="45720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83480" y="2267712"/>
            <a:ext cx="274320" cy="274320"/>
          </a:xfrm>
          <a:prstGeom prst="ellipse">
            <a:avLst/>
          </a:prstGeom>
          <a:solidFill>
            <a:srgbClr val="4053D6"/>
          </a:solidFill>
          <a:ln/>
        </p:spPr>
      </p:sp>
      <p:sp>
        <p:nvSpPr>
          <p:cNvPr id="47" name="Text 45"/>
          <p:cNvSpPr/>
          <p:nvPr/>
        </p:nvSpPr>
        <p:spPr>
          <a:xfrm>
            <a:off x="498348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94960" y="2221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저장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94960" y="24231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체크, Rate Limit (1s)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09160" y="3108960"/>
            <a:ext cx="4251960" cy="1737360"/>
          </a:xfrm>
          <a:prstGeom prst="rect">
            <a:avLst/>
          </a:prstGeom>
          <a:solidFill>
            <a:srgbClr val="161B22">
              <a:alpha val="40000"/>
            </a:srgbClr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추천 엔진 파이프라인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892040" y="3474720"/>
            <a:ext cx="3886200" cy="347472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983480" y="3520440"/>
            <a:ext cx="228600" cy="22860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54" name="Text 52"/>
          <p:cNvSpPr/>
          <p:nvPr/>
        </p:nvSpPr>
        <p:spPr>
          <a:xfrm>
            <a:off x="4983480" y="3520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49240" y="34930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북마크 분석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37960" y="34930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DynamoDB에서 최대 10개 관심 논문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3913632"/>
            <a:ext cx="3886200" cy="347472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983480" y="3959352"/>
            <a:ext cx="228600" cy="228600"/>
          </a:xfrm>
          <a:prstGeom prst="ellipse">
            <a:avLst/>
          </a:prstGeom>
          <a:solidFill>
            <a:srgbClr val="4053D6"/>
          </a:solidFill>
          <a:ln/>
        </p:spPr>
      </p:sp>
      <p:sp>
        <p:nvSpPr>
          <p:cNvPr id="59" name="Text 57"/>
          <p:cNvSpPr/>
          <p:nvPr/>
        </p:nvSpPr>
        <p:spPr>
          <a:xfrm>
            <a:off x="4983480" y="39593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349240" y="39319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후보군 구성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37960" y="3931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GSI (by-category) 활용 쿼리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92040" y="4352544"/>
            <a:ext cx="3886200" cy="347472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983480" y="4398264"/>
            <a:ext cx="228600" cy="22860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64" name="Text 62"/>
          <p:cNvSpPr/>
          <p:nvPr/>
        </p:nvSpPr>
        <p:spPr>
          <a:xfrm>
            <a:off x="4983480" y="43982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349240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A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AI 랭킹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537960" y="43708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선정 + 한국어 추천 이유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892040" y="4800600"/>
            <a:ext cx="3886200" cy="64008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서비스 상세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서비스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9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Lambda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서버리스 컴퓨팅 (4개 함수)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3.12, 256MB-1GB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9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DynamoDB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NoSQL DB (2개 테이블)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On-demand, TTL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9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정적 호스팅 &amp; PDF 캐싱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2개 버킷, 30일 수명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9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Gateway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CORS, /prod 스테이지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9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CloudFront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CDN &amp; HTTPS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OAC, 404 처리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9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Bedrock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AI/ML 모델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Nova Pro v1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9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EventBridge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스케줄러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6시간 주기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9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Functions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워크플로우 오케스트레이션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병렬 AI 처리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9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액세스 제어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Lambda별 세분화 권한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411480"/>
          </a:xfrm>
          <a:prstGeom prst="rect">
            <a:avLst/>
          </a:prstGeom>
          <a:solidFill>
            <a:srgbClr val="58A6F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(ES6+)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/ CSS3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PDF.js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606040" cy="411480"/>
          </a:xfrm>
          <a:prstGeom prst="rect">
            <a:avLst/>
          </a:prstGeom>
          <a:solidFill>
            <a:srgbClr val="F97316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boto3 (AWS SDK)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urllib / xml.etree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606040" cy="411480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CDK 2.244.0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CloudFormation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2606040" cy="411480"/>
          </a:xfrm>
          <a:prstGeom prst="rect">
            <a:avLst/>
          </a:prstGeom>
          <a:solidFill>
            <a:srgbClr val="2DD4BF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520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Pro v1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max_tokens: 2048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71800"/>
            <a:ext cx="2606040" cy="411480"/>
          </a:xfrm>
          <a:prstGeom prst="rect">
            <a:avLst/>
          </a:prstGeom>
          <a:solidFill>
            <a:srgbClr val="F472B6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520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(NLM)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OpenAlex (200M+)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606040" cy="411480"/>
          </a:xfrm>
          <a:prstGeom prst="rect">
            <a:avLst/>
          </a:prstGeom>
          <a:solidFill>
            <a:srgbClr val="3FB950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520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 + S3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Hosting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(OAC)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574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 설계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840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11480"/>
          </a:xfrm>
          <a:prstGeom prst="rect">
            <a:avLst/>
          </a:prstGeom>
          <a:solidFill>
            <a:srgbClr val="58A6FF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paperhub-papers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Key: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paperId (String)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Key: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(String)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GSI: by-category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PK: category / SK: publishedDate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abstract, authors (list)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doi, publishedDate, source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category, pdfUrl, sourceUrl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oneLineSummary, pageSummary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keywords, difficulty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411480"/>
          </a:xfrm>
          <a:prstGeom prst="rect">
            <a:avLst/>
          </a:prstGeom>
          <a:solidFill>
            <a:srgbClr val="F472B6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paperhub-bookmarks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Key: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(String)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Key: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paperId (String)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createdAt (ISO timestamp)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3931920" cy="12801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특징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886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Pay-per-request 빌링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자동 만료 관리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Auto-scaling 불필요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/ UX 디자인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737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 테마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모던 다크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오렌지/인디고 그래디언트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글래스모피즘 카드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레이아웃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1508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Grid (auto-fill)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350px 최소 카드 크기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대응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54864" cy="17373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검색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Cmd+K 단축키 지원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키 검색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트렌딩 키워드 버튼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54864" cy="17373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 보기 모달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탭 구성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요약/분석/영어학습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AI튜터/질문/슬라이드/비교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71800"/>
            <a:ext cx="54864" cy="17373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필터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2044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분야 필터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ML, DL, NLP, CV 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원클릭 전환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54864" cy="1737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렌더링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5508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응답 렌더링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구조화된 출력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CSV/MD 내보내기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향후 발전 방향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0" y="1143000"/>
            <a:ext cx="685800" cy="22860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1430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인증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Cognito 통합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개인별 데이터 관리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260604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1143000"/>
            <a:ext cx="685800" cy="22860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1430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Paper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논문 업로드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관리 시스템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60604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1143000"/>
            <a:ext cx="685800" cy="228600"/>
          </a:xfrm>
          <a:prstGeom prst="rect">
            <a:avLst/>
          </a:prstGeom>
          <a:solidFill>
            <a:srgbClr val="FCD34D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11430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0936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 스트릭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동기 부여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목표 설정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71800"/>
            <a:ext cx="260604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0" y="3108960"/>
            <a:ext cx="685800" cy="228600"/>
          </a:xfrm>
          <a:prstGeom prst="rect">
            <a:avLst/>
          </a:prstGeom>
          <a:solidFill>
            <a:srgbClr val="FCD34D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0" y="3108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뷰어 내장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PDF 직접 열람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하이라이트 기능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297180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971800"/>
            <a:ext cx="260604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0" y="3108960"/>
            <a:ext cx="685800" cy="228600"/>
          </a:xfrm>
          <a:prstGeom prst="rect">
            <a:avLst/>
          </a:prstGeom>
          <a:solidFill>
            <a:srgbClr val="8B949E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108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7472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기능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47472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북마크, 노트 공유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그룹 관리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971800"/>
            <a:ext cx="2606040" cy="1737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971800"/>
            <a:ext cx="260604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6" name="Shape 34"/>
          <p:cNvSpPr/>
          <p:nvPr/>
        </p:nvSpPr>
        <p:spPr>
          <a:xfrm>
            <a:off x="7863840" y="3108960"/>
            <a:ext cx="685800" cy="228600"/>
          </a:xfrm>
          <a:prstGeom prst="rect">
            <a:avLst/>
          </a:prstGeom>
          <a:solidFill>
            <a:srgbClr val="8B949E">
              <a:alpha val="3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0" y="3108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0936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심층 QA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0936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전문 기반 질의응답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검색 통합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657600" y="2286000"/>
            <a:ext cx="18288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3474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github.com/heotaewoong/Paperhub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Deployed: </a:t>
            </a:r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d1v25u4s2s5vh4.cloudfront.net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PaperHub  |  AI-Powered Academic Paper Discovery Platform  |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PaperHub - AI 기반 학술 논문 탐색 및 학습 플랫폼</dc:title>
  <dc:subject>PptxGenJS Presentation</dc:subject>
  <dc:creator>PaperHub Team</dc:creator>
  <cp:lastModifiedBy>PaperHub Team</cp:lastModifiedBy>
  <cp:revision>1</cp:revision>
  <dcterms:created xsi:type="dcterms:W3CDTF">2026-03-27T07:44:25Z</dcterms:created>
  <dcterms:modified xsi:type="dcterms:W3CDTF">2026-03-27T07:44:25Z</dcterms:modified>
</cp:coreProperties>
</file>